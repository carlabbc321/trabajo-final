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9"/>
  </p:notesMasterIdLst>
  <p:handoutMasterIdLst>
    <p:handoutMasterId r:id="rId10"/>
  </p:handoutMasterIdLst>
  <p:sldIdLst>
    <p:sldId id="256" r:id="rId5"/>
    <p:sldId id="277" r:id="rId6"/>
    <p:sldId id="289" r:id="rId7"/>
    <p:sldId id="276" r:id="rId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60" d="100"/>
          <a:sy n="60" d="100"/>
        </p:scale>
        <p:origin x="792" y="2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449ECEF-3E94-4732-BFC3-464D975639BA}" type="datetime1">
              <a:rPr lang="es-ES" smtClean="0"/>
              <a:t>18/03/2026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53551-E181-4730-A9E5-DB7143B35D46}" type="datetime1">
              <a:rPr lang="es-ES" smtClean="0"/>
              <a:pPr/>
              <a:t>18/03/2026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401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614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8265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32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ogram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7" name="Marcador de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8" name="Marcador de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4" name="Marcador de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5" name="Marcador de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6" name="Marcador de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sp>
        <p:nvSpPr>
          <p:cNvPr id="37" name="Marcador de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del texto maestro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1" name="Marcador de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2" name="Marcador de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3" name="Marcador de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34" name="Marcador de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2" name="Marcador de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AGREGAR UN SUBTÍTULO</a:t>
            </a:r>
          </a:p>
        </p:txBody>
      </p:sp>
      <p:sp>
        <p:nvSpPr>
          <p:cNvPr id="13" name="Marcador de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7" name="Marcador de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8" name="Marcador de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0" name="Marcador de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3" name="Marcador de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4" name="Marcador de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2" name="Marcador de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3" name="Marcador de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4" name="Marcador de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5" name="Marcador de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16" name="Marcador de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17" name="Marcador de fech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tr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de mercado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Marcador de conteni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</p:txBody>
      </p:sp>
      <p:sp>
        <p:nvSpPr>
          <p:cNvPr id="27" name="Marcador de conteni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ido 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 EL TEXTO MAESTRO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 EL TEXTO MAESTRO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20" name="Marcador de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5" name="Marcador de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6" name="Marcador de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7" name="Marcador de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8" name="Marcador de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s-ES" noProof="0"/>
              <a:t>HAGA CLIC PARA AGREGAR UN SUBTÍTULO</a:t>
            </a:r>
          </a:p>
        </p:txBody>
      </p:sp>
      <p:sp>
        <p:nvSpPr>
          <p:cNvPr id="29" name="Marcador de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Haga clic para agregar texto</a:t>
            </a:r>
          </a:p>
        </p:txBody>
      </p: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onogram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9" name="Marcador de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Año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5" name="Marcador de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6" name="Marcador de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7" name="Marcador de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8" name="Marcador de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0" name="Marcador de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1" name="Marcador de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2" name="Marcador de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3" name="Marcador de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4" name="Marcador de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5" name="Marcador de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6" name="Marcador de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7" name="Marcador de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8" name="Marcador de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29" name="Marcador de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0" name="Marcador de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1" name="Marcador de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es-ES" noProof="0"/>
              <a:t>MM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Marcador de fech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37" name="Marcador de pie de página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38" name="Marcador de número de diapositiva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4 persona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equipo de 8 persona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7" name="Marcador de posición de imagen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18" name="Marcador de posición de imagen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19" name="Marcador de posición de imagen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6" name="Marcador de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9" name="Marcador de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5" name="Marcador de posición de imagen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6" name="Marcador de posición de imagen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7" name="Marcador de posición de imagen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es-ES" noProof="0"/>
              <a:t>Haga clic en el icono para agregar una imagen</a:t>
            </a:r>
          </a:p>
        </p:txBody>
      </p:sp>
      <p:sp>
        <p:nvSpPr>
          <p:cNvPr id="58" name="Marcador de posición de imagen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2" name="Marcador de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59" name="Marcador de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3" name="Marcador de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0" name="Marcador de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4" name="Marcador de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1" name="Marcador de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65" name="Marcador de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MODIFICAR EL ESTILO DEL TÍTULO MAESTRO</a:t>
            </a: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conteni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EDITAR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conteni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conteni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es-ES" noProof="0"/>
              <a:t>Haga clic para agregar contenido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#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EDITAR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conteni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fech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22" name="Marcador de pie de página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24" name="Marcador de número de diapositiva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ier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Marcador de fech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10" name="Marcador de pie de página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11" name="Marcador de número de diapositiva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Presentación para inversores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fr-FR" dirty="0" err="1"/>
              <a:t>Ingeniería</a:t>
            </a:r>
            <a:r>
              <a:rPr lang="fr-FR" dirty="0"/>
              <a:t> de Prompts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es-ES" dirty="0"/>
              <a:t>Carla Bernachea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651" y="851995"/>
            <a:ext cx="4619244" cy="454798"/>
          </a:xfrm>
        </p:spPr>
        <p:txBody>
          <a:bodyPr rtlCol="0">
            <a:normAutofit/>
          </a:bodyPr>
          <a:lstStyle/>
          <a:p>
            <a:pPr marL="457200" indent="-457200" rtl="0">
              <a:buFont typeface="Wingdings" panose="05000000000000000000" pitchFamily="2" charset="2"/>
              <a:buChar char="ü"/>
            </a:pPr>
            <a:r>
              <a:rPr lang="es-ES" sz="2000" b="1" dirty="0"/>
              <a:t>Prompt simple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291" y="1375661"/>
            <a:ext cx="3654166" cy="454798"/>
          </a:xfr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rtl="0"/>
            <a:r>
              <a:rPr lang="es-ES" sz="1600" dirty="0"/>
              <a:t>Explica GPON.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8FCB2DC-AF4B-AC59-6862-DE1C77AB77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17061" y="378777"/>
            <a:ext cx="4619244" cy="454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>
                <a:solidFill>
                  <a:srgbClr val="0070C0"/>
                </a:solidFill>
              </a:rPr>
              <a:t>Ejemplo 1: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9434B53-16B2-06F6-C0D2-8804E44B0F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333499" y="2635163"/>
            <a:ext cx="4619244" cy="454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ü"/>
            </a:pPr>
            <a:r>
              <a:rPr lang="es-ES" sz="2000" b="1" dirty="0"/>
              <a:t>Prompt con contexto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08369C8-5C2C-E081-6457-F9D7F73227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882139" y="3158829"/>
            <a:ext cx="3654166" cy="454798"/>
          </a:xfrm>
          <a:prstGeom prst="rect">
            <a:avLst/>
          </a:prstGeom>
          <a:ln w="12700" cap="flat" cmpd="sng" algn="ctr">
            <a:solidFill>
              <a:schemeClr val="accent3"/>
            </a:solidFill>
            <a:prstDash val="dash"/>
            <a:miter lim="800000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dirty="0"/>
              <a:t>Explica GPON para un analista de CX.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BEA5146-FCF7-054F-4CBB-29F84409449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17061" y="2140679"/>
            <a:ext cx="4619244" cy="454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>
                <a:solidFill>
                  <a:srgbClr val="0070C0"/>
                </a:solidFill>
              </a:rPr>
              <a:t>Ejemplo 2: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210DFD8-7FD2-E69F-C06E-00FBAF3C48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333499" y="4568063"/>
            <a:ext cx="4619244" cy="454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ü"/>
            </a:pPr>
            <a:r>
              <a:rPr lang="es-ES" sz="2000" b="1" dirty="0"/>
              <a:t>Prompt MEJORADO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604C596F-DA39-2B55-C45C-A06A0AC89D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882138" y="5091728"/>
            <a:ext cx="7719062" cy="1398595"/>
          </a:xfrm>
          <a:prstGeom prst="rect">
            <a:avLst/>
          </a:prstGeom>
          <a:ln w="12700" cap="flat" cmpd="sng" algn="ctr">
            <a:solidFill>
              <a:schemeClr val="accent3"/>
            </a:solidFill>
            <a:prstDash val="dash"/>
            <a:miter lim="800000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defPPr rtl="0">
              <a:defRPr lang="es-ES"/>
            </a:defPPr>
            <a:lvl1pPr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ES" dirty="0"/>
              <a:t>Actúa como un analista de </a:t>
            </a:r>
            <a:r>
              <a:rPr lang="es-ES" dirty="0" err="1"/>
              <a:t>Customer</a:t>
            </a:r>
            <a:r>
              <a:rPr lang="es-ES" dirty="0"/>
              <a:t> </a:t>
            </a:r>
            <a:r>
              <a:rPr lang="es-ES" dirty="0" err="1"/>
              <a:t>Experience</a:t>
            </a:r>
            <a:r>
              <a:rPr lang="es-ES" dirty="0"/>
              <a:t> (CX) en una empresa de telecomunicaciones.</a:t>
            </a:r>
          </a:p>
          <a:p>
            <a:r>
              <a:rPr lang="es-ES" dirty="0"/>
              <a:t>Explica GPON y cuáles son los aspectos más relevantes que afectan la experiencia del cliente en la instalación, activación y soporte del servicio.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07086CA2-250B-75AA-C23F-2D8233FCED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17061" y="3956616"/>
            <a:ext cx="4619244" cy="454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>
                <a:solidFill>
                  <a:srgbClr val="0070C0"/>
                </a:solidFill>
              </a:rPr>
              <a:t>Ejemplo 3: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15438148-8819-85BE-29A1-C56193FCA7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651" y="990224"/>
            <a:ext cx="4619244" cy="454798"/>
          </a:xfrm>
        </p:spPr>
        <p:txBody>
          <a:bodyPr rtlCol="0">
            <a:normAutofit/>
          </a:bodyPr>
          <a:lstStyle/>
          <a:p>
            <a:pPr marL="457200" indent="-457200" rtl="0">
              <a:buFont typeface="Wingdings" panose="05000000000000000000" pitchFamily="2" charset="2"/>
              <a:buChar char="ü"/>
            </a:pPr>
            <a:r>
              <a:rPr lang="es-ES" sz="2000" b="1" dirty="0"/>
              <a:t>Prompt ESTRUCTURADO</a:t>
            </a:r>
          </a:p>
        </p:txBody>
      </p:sp>
      <p:sp>
        <p:nvSpPr>
          <p:cNvPr id="33" name="Subtítulo 2">
            <a:extLst>
              <a:ext uri="{FF2B5EF4-FFF2-40B4-BE49-F238E27FC236}">
                <a16:creationId xmlns:a16="http://schemas.microsoft.com/office/drawing/2014/main" id="{21511C73-8C46-B799-53F3-ECA4DFB25A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955291" y="1513889"/>
            <a:ext cx="8241332" cy="4599831"/>
          </a:xfrm>
          <a:prstGeom prst="rect">
            <a:avLst/>
          </a:prstGeom>
          <a:ln w="12700" cap="flat" cmpd="sng" algn="ctr">
            <a:solidFill>
              <a:schemeClr val="accent3"/>
            </a:solidFill>
            <a:prstDash val="dash"/>
            <a:miter lim="800000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600" dirty="0"/>
              <a:t>Actúa como un analista de </a:t>
            </a:r>
            <a:r>
              <a:rPr lang="es-ES" sz="1600" dirty="0" err="1"/>
              <a:t>Customer</a:t>
            </a:r>
            <a:r>
              <a:rPr lang="es-ES" sz="1600" dirty="0"/>
              <a:t> </a:t>
            </a:r>
            <a:r>
              <a:rPr lang="es-ES" sz="1600" dirty="0" err="1"/>
              <a:t>Experience</a:t>
            </a:r>
            <a:r>
              <a:rPr lang="es-ES" sz="1600" dirty="0"/>
              <a:t> (CX) especializado en servicios GPON de telecomunicaciones.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dirty="0"/>
              <a:t>Analiza el siguiente texto sobre GPON y entrega:</a:t>
            </a:r>
          </a:p>
          <a:p>
            <a:pPr marL="0" indent="0">
              <a:buNone/>
            </a:pPr>
            <a:r>
              <a:rPr lang="es-ES" sz="1600" dirty="0"/>
              <a:t>1. Resumen claro en máximo 5 líneas sobre la tecnología y su impacto en la experiencia del cliente.</a:t>
            </a:r>
          </a:p>
          <a:p>
            <a:pPr marL="0" indent="0">
              <a:buNone/>
            </a:pPr>
            <a:r>
              <a:rPr lang="es-ES" sz="1600" dirty="0"/>
              <a:t>2. Principales problemas o puntos críticos que podrían afectar la satisfacción del cliente.</a:t>
            </a:r>
          </a:p>
          <a:p>
            <a:pPr marL="0" indent="0">
              <a:buNone/>
            </a:pPr>
            <a:r>
              <a:rPr lang="es-ES" sz="1600" dirty="0"/>
              <a:t>3. Recomendaciones prácticas para mejorar la experiencia del cliente durante instalación, activación y soporte.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dirty="0"/>
              <a:t>Formato de salida:</a:t>
            </a:r>
          </a:p>
          <a:p>
            <a:pPr marL="0" indent="0">
              <a:buNone/>
            </a:pPr>
            <a:r>
              <a:rPr lang="es-ES" sz="1600" dirty="0"/>
              <a:t>- Resumen:</a:t>
            </a:r>
          </a:p>
          <a:p>
            <a:pPr marL="0" indent="0">
              <a:buNone/>
            </a:pPr>
            <a:r>
              <a:rPr lang="es-ES" sz="1600" dirty="0"/>
              <a:t>- Puntos críticos:</a:t>
            </a:r>
          </a:p>
          <a:p>
            <a:pPr marL="0" indent="0">
              <a:buNone/>
            </a:pPr>
            <a:r>
              <a:rPr lang="es-ES" sz="1600" dirty="0"/>
              <a:t>- Recomendaciones: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BA678D49-1C73-8575-823E-E5D2A95AA0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917061" y="378777"/>
            <a:ext cx="4619244" cy="4547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>
                <a:solidFill>
                  <a:srgbClr val="0070C0"/>
                </a:solidFill>
              </a:rPr>
              <a:t>Ejemplo 4:</a:t>
            </a: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 rtlCol="0"/>
          <a:lstStyle/>
          <a:p>
            <a:pPr rtl="0"/>
            <a:r>
              <a:rPr lang="es-ES"/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Una sola líne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44_TF56180624_Win32" id="{CCF276C0-2FDF-463F-B45D-4EDBA039C896}" vid="{7446774B-3392-4AFF-ADF4-7FE1E36E528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ventas minimalista tenue</Template>
  <TotalTime>14</TotalTime>
  <Words>176</Words>
  <Application>Microsoft Office PowerPoint</Application>
  <PresentationFormat>Panorámica</PresentationFormat>
  <Paragraphs>30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Tenorite</vt:lpstr>
      <vt:lpstr>Wingdings</vt:lpstr>
      <vt:lpstr>Una sola línea</vt:lpstr>
      <vt:lpstr>Ingeniería de Prompts</vt:lpstr>
      <vt:lpstr>Prompt simple</vt:lpstr>
      <vt:lpstr>Prompt ESTRUCTURADO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carla bernachea</dc:creator>
  <cp:lastModifiedBy>carla bernachea</cp:lastModifiedBy>
  <cp:revision>1</cp:revision>
  <dcterms:created xsi:type="dcterms:W3CDTF">2026-03-19T02:13:03Z</dcterms:created>
  <dcterms:modified xsi:type="dcterms:W3CDTF">2026-03-19T02:27:50Z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